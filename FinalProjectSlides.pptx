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0" d="100"/>
          <a:sy n="150" d="100"/>
        </p:scale>
        <p:origin x="2094"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C12DB0-8225-4233-9119-1C7F51473AD9}" type="doc">
      <dgm:prSet loTypeId="urn:microsoft.com/office/officeart/2005/8/layout/arrow5" loCatId="relationship" qsTypeId="urn:microsoft.com/office/officeart/2005/8/quickstyle/simple1" qsCatId="simple" csTypeId="urn:microsoft.com/office/officeart/2005/8/colors/accent1_2" csCatId="accent1"/>
      <dgm:spPr/>
      <dgm:t>
        <a:bodyPr/>
        <a:lstStyle/>
        <a:p>
          <a:endParaRPr lang="en-US"/>
        </a:p>
      </dgm:t>
    </dgm:pt>
    <dgm:pt modelId="{0C94ADA1-CF28-4A28-907B-ADFF42CB1AEB}">
      <dgm:prSet/>
      <dgm:spPr/>
      <dgm:t>
        <a:bodyPr/>
        <a:lstStyle/>
        <a:p>
          <a:r>
            <a:rPr lang="en-US"/>
            <a:t>Missing salary values were identified using isnull().sum().</a:t>
          </a:r>
        </a:p>
      </dgm:t>
    </dgm:pt>
    <dgm:pt modelId="{38C8B7AB-A2B3-413C-90B0-D6E5A7E45BCE}" type="parTrans" cxnId="{28D5280D-4E5A-4F04-AA9A-865FF6F5A7E0}">
      <dgm:prSet/>
      <dgm:spPr/>
      <dgm:t>
        <a:bodyPr/>
        <a:lstStyle/>
        <a:p>
          <a:endParaRPr lang="en-US"/>
        </a:p>
      </dgm:t>
    </dgm:pt>
    <dgm:pt modelId="{0E5819DC-3197-44D3-B4BA-C9A39BE500AF}" type="sibTrans" cxnId="{28D5280D-4E5A-4F04-AA9A-865FF6F5A7E0}">
      <dgm:prSet/>
      <dgm:spPr/>
      <dgm:t>
        <a:bodyPr/>
        <a:lstStyle/>
        <a:p>
          <a:endParaRPr lang="en-US"/>
        </a:p>
      </dgm:t>
    </dgm:pt>
    <dgm:pt modelId="{68EC4AE5-5435-4894-9F6A-DE2859F9B7AE}">
      <dgm:prSet/>
      <dgm:spPr/>
      <dgm:t>
        <a:bodyPr/>
        <a:lstStyle/>
        <a:p>
          <a:r>
            <a:rPr lang="en-US"/>
            <a:t>Rows with missing Median salary values were removed.</a:t>
          </a:r>
        </a:p>
      </dgm:t>
    </dgm:pt>
    <dgm:pt modelId="{F9DA2A7A-B914-4214-A11E-A70DF3D7C1BF}" type="parTrans" cxnId="{2F3DDD34-3AF8-44B1-ACE3-4BB89B3FD0F8}">
      <dgm:prSet/>
      <dgm:spPr/>
      <dgm:t>
        <a:bodyPr/>
        <a:lstStyle/>
        <a:p>
          <a:endParaRPr lang="en-US"/>
        </a:p>
      </dgm:t>
    </dgm:pt>
    <dgm:pt modelId="{5D92897B-E91B-43CC-BC96-FAD50A216786}" type="sibTrans" cxnId="{2F3DDD34-3AF8-44B1-ACE3-4BB89B3FD0F8}">
      <dgm:prSet/>
      <dgm:spPr/>
      <dgm:t>
        <a:bodyPr/>
        <a:lstStyle/>
        <a:p>
          <a:endParaRPr lang="en-US"/>
        </a:p>
      </dgm:t>
    </dgm:pt>
    <dgm:pt modelId="{FA453BF4-7902-4A89-9932-E7FA58193665}">
      <dgm:prSet/>
      <dgm:spPr/>
      <dgm:t>
        <a:bodyPr/>
        <a:lstStyle/>
        <a:p>
          <a:r>
            <a:rPr lang="en-US"/>
            <a:t>The cleaned data was then loaded into SQLite tables.</a:t>
          </a:r>
        </a:p>
      </dgm:t>
    </dgm:pt>
    <dgm:pt modelId="{CC427D6F-274C-4D8A-B266-4F703C06317E}" type="parTrans" cxnId="{9B740E7E-BAE0-45E8-A9F7-F43B73178E13}">
      <dgm:prSet/>
      <dgm:spPr/>
      <dgm:t>
        <a:bodyPr/>
        <a:lstStyle/>
        <a:p>
          <a:endParaRPr lang="en-US"/>
        </a:p>
      </dgm:t>
    </dgm:pt>
    <dgm:pt modelId="{2EC271A0-C6FC-42BD-9783-1D2BFF5DBC75}" type="sibTrans" cxnId="{9B740E7E-BAE0-45E8-A9F7-F43B73178E13}">
      <dgm:prSet/>
      <dgm:spPr/>
      <dgm:t>
        <a:bodyPr/>
        <a:lstStyle/>
        <a:p>
          <a:endParaRPr lang="en-US"/>
        </a:p>
      </dgm:t>
    </dgm:pt>
    <dgm:pt modelId="{87E68C73-E8C3-4E6A-B88F-BF1ECEEC388B}" type="pres">
      <dgm:prSet presAssocID="{A6C12DB0-8225-4233-9119-1C7F51473AD9}" presName="diagram" presStyleCnt="0">
        <dgm:presLayoutVars>
          <dgm:dir/>
          <dgm:resizeHandles val="exact"/>
        </dgm:presLayoutVars>
      </dgm:prSet>
      <dgm:spPr/>
    </dgm:pt>
    <dgm:pt modelId="{2225C40E-FD2A-4759-A0BD-93CFF9C8CB66}" type="pres">
      <dgm:prSet presAssocID="{0C94ADA1-CF28-4A28-907B-ADFF42CB1AEB}" presName="arrow" presStyleLbl="node1" presStyleIdx="0" presStyleCnt="3">
        <dgm:presLayoutVars>
          <dgm:bulletEnabled val="1"/>
        </dgm:presLayoutVars>
      </dgm:prSet>
      <dgm:spPr/>
    </dgm:pt>
    <dgm:pt modelId="{BF56E297-ED9E-48CF-8462-0837F0BF770C}" type="pres">
      <dgm:prSet presAssocID="{68EC4AE5-5435-4894-9F6A-DE2859F9B7AE}" presName="arrow" presStyleLbl="node1" presStyleIdx="1" presStyleCnt="3">
        <dgm:presLayoutVars>
          <dgm:bulletEnabled val="1"/>
        </dgm:presLayoutVars>
      </dgm:prSet>
      <dgm:spPr/>
    </dgm:pt>
    <dgm:pt modelId="{9B74CC6B-284D-47E2-9908-7DE29C5136E0}" type="pres">
      <dgm:prSet presAssocID="{FA453BF4-7902-4A89-9932-E7FA58193665}" presName="arrow" presStyleLbl="node1" presStyleIdx="2" presStyleCnt="3">
        <dgm:presLayoutVars>
          <dgm:bulletEnabled val="1"/>
        </dgm:presLayoutVars>
      </dgm:prSet>
      <dgm:spPr/>
    </dgm:pt>
  </dgm:ptLst>
  <dgm:cxnLst>
    <dgm:cxn modelId="{28D5280D-4E5A-4F04-AA9A-865FF6F5A7E0}" srcId="{A6C12DB0-8225-4233-9119-1C7F51473AD9}" destId="{0C94ADA1-CF28-4A28-907B-ADFF42CB1AEB}" srcOrd="0" destOrd="0" parTransId="{38C8B7AB-A2B3-413C-90B0-D6E5A7E45BCE}" sibTransId="{0E5819DC-3197-44D3-B4BA-C9A39BE500AF}"/>
    <dgm:cxn modelId="{2F3DDD34-3AF8-44B1-ACE3-4BB89B3FD0F8}" srcId="{A6C12DB0-8225-4233-9119-1C7F51473AD9}" destId="{68EC4AE5-5435-4894-9F6A-DE2859F9B7AE}" srcOrd="1" destOrd="0" parTransId="{F9DA2A7A-B914-4214-A11E-A70DF3D7C1BF}" sibTransId="{5D92897B-E91B-43CC-BC96-FAD50A216786}"/>
    <dgm:cxn modelId="{09ECBD5F-A578-437B-86BF-195E7EDCF3BA}" type="presOf" srcId="{FA453BF4-7902-4A89-9932-E7FA58193665}" destId="{9B74CC6B-284D-47E2-9908-7DE29C5136E0}" srcOrd="0" destOrd="0" presId="urn:microsoft.com/office/officeart/2005/8/layout/arrow5"/>
    <dgm:cxn modelId="{9FE43E4C-F331-490D-9B14-2B5087293CA8}" type="presOf" srcId="{0C94ADA1-CF28-4A28-907B-ADFF42CB1AEB}" destId="{2225C40E-FD2A-4759-A0BD-93CFF9C8CB66}" srcOrd="0" destOrd="0" presId="urn:microsoft.com/office/officeart/2005/8/layout/arrow5"/>
    <dgm:cxn modelId="{9B740E7E-BAE0-45E8-A9F7-F43B73178E13}" srcId="{A6C12DB0-8225-4233-9119-1C7F51473AD9}" destId="{FA453BF4-7902-4A89-9932-E7FA58193665}" srcOrd="2" destOrd="0" parTransId="{CC427D6F-274C-4D8A-B266-4F703C06317E}" sibTransId="{2EC271A0-C6FC-42BD-9783-1D2BFF5DBC75}"/>
    <dgm:cxn modelId="{D965A490-4D73-4F0F-B70C-66E856BCE2CA}" type="presOf" srcId="{68EC4AE5-5435-4894-9F6A-DE2859F9B7AE}" destId="{BF56E297-ED9E-48CF-8462-0837F0BF770C}" srcOrd="0" destOrd="0" presId="urn:microsoft.com/office/officeart/2005/8/layout/arrow5"/>
    <dgm:cxn modelId="{A875E89E-BAB7-4D73-A2A8-6F4E05FF1457}" type="presOf" srcId="{A6C12DB0-8225-4233-9119-1C7F51473AD9}" destId="{87E68C73-E8C3-4E6A-B88F-BF1ECEEC388B}" srcOrd="0" destOrd="0" presId="urn:microsoft.com/office/officeart/2005/8/layout/arrow5"/>
    <dgm:cxn modelId="{61993016-4E01-4D1A-A96E-DFF8C8C87A57}" type="presParOf" srcId="{87E68C73-E8C3-4E6A-B88F-BF1ECEEC388B}" destId="{2225C40E-FD2A-4759-A0BD-93CFF9C8CB66}" srcOrd="0" destOrd="0" presId="urn:microsoft.com/office/officeart/2005/8/layout/arrow5"/>
    <dgm:cxn modelId="{943B0719-2887-482E-86C0-41A0A60FB014}" type="presParOf" srcId="{87E68C73-E8C3-4E6A-B88F-BF1ECEEC388B}" destId="{BF56E297-ED9E-48CF-8462-0837F0BF770C}" srcOrd="1" destOrd="0" presId="urn:microsoft.com/office/officeart/2005/8/layout/arrow5"/>
    <dgm:cxn modelId="{96027772-B90E-412A-833F-DA3F67C45385}" type="presParOf" srcId="{87E68C73-E8C3-4E6A-B88F-BF1ECEEC388B}" destId="{9B74CC6B-284D-47E2-9908-7DE29C5136E0}" srcOrd="2"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B3AEAE-0956-4C26-9E13-90E15174DAB8}"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FA26CF71-8774-43F7-A259-4CD1382A4FE1}">
      <dgm:prSet/>
      <dgm:spPr/>
      <dgm:t>
        <a:bodyPr/>
        <a:lstStyle/>
        <a:p>
          <a:r>
            <a:rPr lang="en-US"/>
            <a:t>Engineering and technical majors had some of the highest median salaries.</a:t>
          </a:r>
        </a:p>
      </dgm:t>
    </dgm:pt>
    <dgm:pt modelId="{183694F6-F6B0-4AFE-A86A-B0D0C947118F}" type="parTrans" cxnId="{B9124BFD-E702-4347-A159-257856221DEF}">
      <dgm:prSet/>
      <dgm:spPr/>
      <dgm:t>
        <a:bodyPr/>
        <a:lstStyle/>
        <a:p>
          <a:endParaRPr lang="en-US"/>
        </a:p>
      </dgm:t>
    </dgm:pt>
    <dgm:pt modelId="{CA1FB85A-94B9-4653-B82C-EEC1090C395B}" type="sibTrans" cxnId="{B9124BFD-E702-4347-A159-257856221DEF}">
      <dgm:prSet/>
      <dgm:spPr/>
      <dgm:t>
        <a:bodyPr/>
        <a:lstStyle/>
        <a:p>
          <a:endParaRPr lang="en-US"/>
        </a:p>
      </dgm:t>
    </dgm:pt>
    <dgm:pt modelId="{C9BBC623-B956-44B1-B62E-0B941C06FD42}">
      <dgm:prSet/>
      <dgm:spPr/>
      <dgm:t>
        <a:bodyPr/>
        <a:lstStyle/>
        <a:p>
          <a:r>
            <a:rPr lang="en-US"/>
            <a:t>Unemployment rates varied significantly between major categories.</a:t>
          </a:r>
        </a:p>
      </dgm:t>
    </dgm:pt>
    <dgm:pt modelId="{F68D9158-DFFA-4E63-932A-BB50A0A2606F}" type="parTrans" cxnId="{FAEB3E1B-3F8D-4AAC-BE5C-BD65A0E1567D}">
      <dgm:prSet/>
      <dgm:spPr/>
      <dgm:t>
        <a:bodyPr/>
        <a:lstStyle/>
        <a:p>
          <a:endParaRPr lang="en-US"/>
        </a:p>
      </dgm:t>
    </dgm:pt>
    <dgm:pt modelId="{224EB50E-5D58-488F-AD7F-4E59A83FFD37}" type="sibTrans" cxnId="{FAEB3E1B-3F8D-4AAC-BE5C-BD65A0E1567D}">
      <dgm:prSet/>
      <dgm:spPr/>
      <dgm:t>
        <a:bodyPr/>
        <a:lstStyle/>
        <a:p>
          <a:endParaRPr lang="en-US"/>
        </a:p>
      </dgm:t>
    </dgm:pt>
    <dgm:pt modelId="{2FE77F85-D9D4-4A0D-8BDF-4026D63C8F49}">
      <dgm:prSet/>
      <dgm:spPr/>
      <dgm:t>
        <a:bodyPr/>
        <a:lstStyle/>
        <a:p>
          <a:r>
            <a:rPr lang="en-US"/>
            <a:t>Salary distributions showed that some majors had much wider earning ranges than others.</a:t>
          </a:r>
        </a:p>
      </dgm:t>
    </dgm:pt>
    <dgm:pt modelId="{71A93909-C327-4B8A-BB2D-EC6F62DD75FF}" type="parTrans" cxnId="{4A8696DA-27D1-4E52-A0E6-F0E907666B45}">
      <dgm:prSet/>
      <dgm:spPr/>
      <dgm:t>
        <a:bodyPr/>
        <a:lstStyle/>
        <a:p>
          <a:endParaRPr lang="en-US"/>
        </a:p>
      </dgm:t>
    </dgm:pt>
    <dgm:pt modelId="{588C383D-BD3B-4EA6-9C4B-7A51410F660A}" type="sibTrans" cxnId="{4A8696DA-27D1-4E52-A0E6-F0E907666B45}">
      <dgm:prSet/>
      <dgm:spPr/>
      <dgm:t>
        <a:bodyPr/>
        <a:lstStyle/>
        <a:p>
          <a:endParaRPr lang="en-US"/>
        </a:p>
      </dgm:t>
    </dgm:pt>
    <dgm:pt modelId="{C4955A42-14AF-4BB9-AEF0-372DC3C86CDB}" type="pres">
      <dgm:prSet presAssocID="{62B3AEAE-0956-4C26-9E13-90E15174DAB8}" presName="linear" presStyleCnt="0">
        <dgm:presLayoutVars>
          <dgm:animLvl val="lvl"/>
          <dgm:resizeHandles val="exact"/>
        </dgm:presLayoutVars>
      </dgm:prSet>
      <dgm:spPr/>
    </dgm:pt>
    <dgm:pt modelId="{0C226E01-935E-450B-B5D4-F5D8C6D9901E}" type="pres">
      <dgm:prSet presAssocID="{FA26CF71-8774-43F7-A259-4CD1382A4FE1}" presName="parentText" presStyleLbl="node1" presStyleIdx="0" presStyleCnt="3">
        <dgm:presLayoutVars>
          <dgm:chMax val="0"/>
          <dgm:bulletEnabled val="1"/>
        </dgm:presLayoutVars>
      </dgm:prSet>
      <dgm:spPr/>
    </dgm:pt>
    <dgm:pt modelId="{6E1E6CEB-EA4F-4424-8681-EBE96C6FB0B6}" type="pres">
      <dgm:prSet presAssocID="{CA1FB85A-94B9-4653-B82C-EEC1090C395B}" presName="spacer" presStyleCnt="0"/>
      <dgm:spPr/>
    </dgm:pt>
    <dgm:pt modelId="{E5208E28-BCC5-4A77-B309-4681439B1A7C}" type="pres">
      <dgm:prSet presAssocID="{C9BBC623-B956-44B1-B62E-0B941C06FD42}" presName="parentText" presStyleLbl="node1" presStyleIdx="1" presStyleCnt="3">
        <dgm:presLayoutVars>
          <dgm:chMax val="0"/>
          <dgm:bulletEnabled val="1"/>
        </dgm:presLayoutVars>
      </dgm:prSet>
      <dgm:spPr/>
    </dgm:pt>
    <dgm:pt modelId="{94D63C34-9755-4BAE-8412-B2344904B449}" type="pres">
      <dgm:prSet presAssocID="{224EB50E-5D58-488F-AD7F-4E59A83FFD37}" presName="spacer" presStyleCnt="0"/>
      <dgm:spPr/>
    </dgm:pt>
    <dgm:pt modelId="{62C149FB-0C71-4971-942F-E99BB14B5A92}" type="pres">
      <dgm:prSet presAssocID="{2FE77F85-D9D4-4A0D-8BDF-4026D63C8F49}" presName="parentText" presStyleLbl="node1" presStyleIdx="2" presStyleCnt="3">
        <dgm:presLayoutVars>
          <dgm:chMax val="0"/>
          <dgm:bulletEnabled val="1"/>
        </dgm:presLayoutVars>
      </dgm:prSet>
      <dgm:spPr/>
    </dgm:pt>
  </dgm:ptLst>
  <dgm:cxnLst>
    <dgm:cxn modelId="{FAEB3E1B-3F8D-4AAC-BE5C-BD65A0E1567D}" srcId="{62B3AEAE-0956-4C26-9E13-90E15174DAB8}" destId="{C9BBC623-B956-44B1-B62E-0B941C06FD42}" srcOrd="1" destOrd="0" parTransId="{F68D9158-DFFA-4E63-932A-BB50A0A2606F}" sibTransId="{224EB50E-5D58-488F-AD7F-4E59A83FFD37}"/>
    <dgm:cxn modelId="{A36C882F-5D02-4239-8276-BF3B47565EDF}" type="presOf" srcId="{2FE77F85-D9D4-4A0D-8BDF-4026D63C8F49}" destId="{62C149FB-0C71-4971-942F-E99BB14B5A92}" srcOrd="0" destOrd="0" presId="urn:microsoft.com/office/officeart/2005/8/layout/vList2"/>
    <dgm:cxn modelId="{8F2B7D8E-D348-4823-994A-6E307A3DCFB2}" type="presOf" srcId="{FA26CF71-8774-43F7-A259-4CD1382A4FE1}" destId="{0C226E01-935E-450B-B5D4-F5D8C6D9901E}" srcOrd="0" destOrd="0" presId="urn:microsoft.com/office/officeart/2005/8/layout/vList2"/>
    <dgm:cxn modelId="{A611C9AF-E0BA-40D8-9EDF-6FD9CB51DC99}" type="presOf" srcId="{62B3AEAE-0956-4C26-9E13-90E15174DAB8}" destId="{C4955A42-14AF-4BB9-AEF0-372DC3C86CDB}" srcOrd="0" destOrd="0" presId="urn:microsoft.com/office/officeart/2005/8/layout/vList2"/>
    <dgm:cxn modelId="{4A8696DA-27D1-4E52-A0E6-F0E907666B45}" srcId="{62B3AEAE-0956-4C26-9E13-90E15174DAB8}" destId="{2FE77F85-D9D4-4A0D-8BDF-4026D63C8F49}" srcOrd="2" destOrd="0" parTransId="{71A93909-C327-4B8A-BB2D-EC6F62DD75FF}" sibTransId="{588C383D-BD3B-4EA6-9C4B-7A51410F660A}"/>
    <dgm:cxn modelId="{BC3347DD-A6C7-4CD8-9037-9C9D17BC098F}" type="presOf" srcId="{C9BBC623-B956-44B1-B62E-0B941C06FD42}" destId="{E5208E28-BCC5-4A77-B309-4681439B1A7C}" srcOrd="0" destOrd="0" presId="urn:microsoft.com/office/officeart/2005/8/layout/vList2"/>
    <dgm:cxn modelId="{B9124BFD-E702-4347-A159-257856221DEF}" srcId="{62B3AEAE-0956-4C26-9E13-90E15174DAB8}" destId="{FA26CF71-8774-43F7-A259-4CD1382A4FE1}" srcOrd="0" destOrd="0" parTransId="{183694F6-F6B0-4AFE-A86A-B0D0C947118F}" sibTransId="{CA1FB85A-94B9-4653-B82C-EEC1090C395B}"/>
    <dgm:cxn modelId="{460F9323-0D25-4DC0-89F2-C801EE4A711B}" type="presParOf" srcId="{C4955A42-14AF-4BB9-AEF0-372DC3C86CDB}" destId="{0C226E01-935E-450B-B5D4-F5D8C6D9901E}" srcOrd="0" destOrd="0" presId="urn:microsoft.com/office/officeart/2005/8/layout/vList2"/>
    <dgm:cxn modelId="{C9A442DF-AFF8-4ABE-A92E-D31DE1BFB4C9}" type="presParOf" srcId="{C4955A42-14AF-4BB9-AEF0-372DC3C86CDB}" destId="{6E1E6CEB-EA4F-4424-8681-EBE96C6FB0B6}" srcOrd="1" destOrd="0" presId="urn:microsoft.com/office/officeart/2005/8/layout/vList2"/>
    <dgm:cxn modelId="{8B455B84-A80C-4C4C-B554-5A268C77FC41}" type="presParOf" srcId="{C4955A42-14AF-4BB9-AEF0-372DC3C86CDB}" destId="{E5208E28-BCC5-4A77-B309-4681439B1A7C}" srcOrd="2" destOrd="0" presId="urn:microsoft.com/office/officeart/2005/8/layout/vList2"/>
    <dgm:cxn modelId="{688A9747-785C-47E2-A620-14F8BBD2E5FA}" type="presParOf" srcId="{C4955A42-14AF-4BB9-AEF0-372DC3C86CDB}" destId="{94D63C34-9755-4BAE-8412-B2344904B449}" srcOrd="3" destOrd="0" presId="urn:microsoft.com/office/officeart/2005/8/layout/vList2"/>
    <dgm:cxn modelId="{6AD96B11-3F56-4740-B8D5-EA43581F8CE0}" type="presParOf" srcId="{C4955A42-14AF-4BB9-AEF0-372DC3C86CDB}" destId="{62C149FB-0C71-4971-942F-E99BB14B5A9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25C40E-FD2A-4759-A0BD-93CFF9C8CB66}">
      <dsp:nvSpPr>
        <dsp:cNvPr id="0" name=""/>
        <dsp:cNvSpPr/>
      </dsp:nvSpPr>
      <dsp:spPr>
        <a:xfrm>
          <a:off x="2983631" y="13"/>
          <a:ext cx="2262336" cy="2262336"/>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a:t>Missing salary values were identified using isnull().sum().</a:t>
          </a:r>
        </a:p>
      </dsp:txBody>
      <dsp:txXfrm>
        <a:off x="3549215" y="13"/>
        <a:ext cx="1131168" cy="1866427"/>
      </dsp:txXfrm>
    </dsp:sp>
    <dsp:sp modelId="{BF56E297-ED9E-48CF-8462-0837F0BF770C}">
      <dsp:nvSpPr>
        <dsp:cNvPr id="0" name=""/>
        <dsp:cNvSpPr/>
      </dsp:nvSpPr>
      <dsp:spPr>
        <a:xfrm rot="7200000">
          <a:off x="4290522" y="2263613"/>
          <a:ext cx="2262336" cy="2262336"/>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a:t>Rows with missing Median salary values were removed.</a:t>
          </a:r>
        </a:p>
      </dsp:txBody>
      <dsp:txXfrm rot="-5400000">
        <a:off x="4659911" y="2928174"/>
        <a:ext cx="1866427" cy="1131168"/>
      </dsp:txXfrm>
    </dsp:sp>
    <dsp:sp modelId="{9B74CC6B-284D-47E2-9908-7DE29C5136E0}">
      <dsp:nvSpPr>
        <dsp:cNvPr id="0" name=""/>
        <dsp:cNvSpPr/>
      </dsp:nvSpPr>
      <dsp:spPr>
        <a:xfrm rot="14400000">
          <a:off x="1676741" y="2263613"/>
          <a:ext cx="2262336" cy="2262336"/>
        </a:xfrm>
        <a:prstGeom prst="downArrow">
          <a:avLst>
            <a:gd name="adj1" fmla="val 50000"/>
            <a:gd name="adj2" fmla="val 3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a:t>The cleaned data was then loaded into SQLite tables.</a:t>
          </a:r>
        </a:p>
      </dsp:txBody>
      <dsp:txXfrm rot="5400000">
        <a:off x="1703262" y="2928174"/>
        <a:ext cx="1866427" cy="11311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226E01-935E-450B-B5D4-F5D8C6D9901E}">
      <dsp:nvSpPr>
        <dsp:cNvPr id="0" name=""/>
        <dsp:cNvSpPr/>
      </dsp:nvSpPr>
      <dsp:spPr>
        <a:xfrm>
          <a:off x="0" y="422104"/>
          <a:ext cx="5000124" cy="1484730"/>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Engineering and technical majors had some of the highest median salaries.</a:t>
          </a:r>
        </a:p>
      </dsp:txBody>
      <dsp:txXfrm>
        <a:off x="72479" y="494583"/>
        <a:ext cx="4855166" cy="1339772"/>
      </dsp:txXfrm>
    </dsp:sp>
    <dsp:sp modelId="{E5208E28-BCC5-4A77-B309-4681439B1A7C}">
      <dsp:nvSpPr>
        <dsp:cNvPr id="0" name=""/>
        <dsp:cNvSpPr/>
      </dsp:nvSpPr>
      <dsp:spPr>
        <a:xfrm>
          <a:off x="0" y="1984594"/>
          <a:ext cx="5000124" cy="1484730"/>
        </a:xfrm>
        <a:prstGeom prst="roundRect">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Unemployment rates varied significantly between major categories.</a:t>
          </a:r>
        </a:p>
      </dsp:txBody>
      <dsp:txXfrm>
        <a:off x="72479" y="2057073"/>
        <a:ext cx="4855166" cy="1339772"/>
      </dsp:txXfrm>
    </dsp:sp>
    <dsp:sp modelId="{62C149FB-0C71-4971-942F-E99BB14B5A92}">
      <dsp:nvSpPr>
        <dsp:cNvPr id="0" name=""/>
        <dsp:cNvSpPr/>
      </dsp:nvSpPr>
      <dsp:spPr>
        <a:xfrm>
          <a:off x="0" y="3547085"/>
          <a:ext cx="5000124" cy="1484730"/>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Salary distributions showed that some majors had much wider earning ranges than others.</a:t>
          </a:r>
        </a:p>
      </dsp:txBody>
      <dsp:txXfrm>
        <a:off x="72479" y="3619564"/>
        <a:ext cx="4855166" cy="1339772"/>
      </dsp:txXfrm>
    </dsp:sp>
  </dsp:spTree>
</dsp:drawing>
</file>

<file path=ppt/diagrams/layout1.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0699" y="687480"/>
            <a:ext cx="5605629" cy="994172"/>
          </a:xfrm>
        </p:spPr>
        <p:txBody>
          <a:bodyPr>
            <a:normAutofit/>
          </a:bodyPr>
          <a:lstStyle/>
          <a:p>
            <a:pPr>
              <a:lnSpc>
                <a:spcPct val="90000"/>
              </a:lnSpc>
            </a:pPr>
            <a:r>
              <a:rPr lang="en-US" sz="3000" dirty="0"/>
              <a:t>College Majors and Earnings Analysis Slide Deck</a:t>
            </a:r>
          </a:p>
        </p:txBody>
      </p:sp>
      <p:sp>
        <p:nvSpPr>
          <p:cNvPr id="3" name="Content Placeholder 2"/>
          <p:cNvSpPr>
            <a:spLocks noGrp="1"/>
          </p:cNvSpPr>
          <p:nvPr>
            <p:ph idx="1"/>
          </p:nvPr>
        </p:nvSpPr>
        <p:spPr>
          <a:xfrm>
            <a:off x="852321" y="2227943"/>
            <a:ext cx="5033221" cy="3788227"/>
          </a:xfrm>
        </p:spPr>
        <p:txBody>
          <a:bodyPr anchor="ctr">
            <a:normAutofit/>
          </a:bodyPr>
          <a:lstStyle/>
          <a:p>
            <a:r>
              <a:rPr lang="en-US" sz="2100" dirty="0"/>
              <a:t>IS 362</a:t>
            </a:r>
          </a:p>
          <a:p>
            <a:r>
              <a:rPr lang="en-US" sz="2100" dirty="0"/>
              <a:t>By: Patrick Diaz</a:t>
            </a: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Graphic 6" descr="Diploma Roll">
            <a:extLst>
              <a:ext uri="{FF2B5EF4-FFF2-40B4-BE49-F238E27FC236}">
                <a16:creationId xmlns:a16="http://schemas.microsoft.com/office/drawing/2014/main" id="{83C9B34C-2FB3-85EF-2CA0-33AC1090AC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24964" y="2865141"/>
            <a:ext cx="1143455" cy="11434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D21050B-D85A-4CC6-94EC-450D24F19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a:extLst>
              <a:ext uri="{FF2B5EF4-FFF2-40B4-BE49-F238E27FC236}">
                <a16:creationId xmlns:a16="http://schemas.microsoft.com/office/drawing/2014/main" id="{C4720EDA-E218-43A9-8817-08F09F4DB6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1714" cy="6862380"/>
          </a:xfrm>
          <a:prstGeom prst="rect">
            <a:avLst/>
          </a:prstGeom>
        </p:spPr>
      </p:pic>
      <p:sp>
        <p:nvSpPr>
          <p:cNvPr id="23" name="Rectangle 22">
            <a:extLst>
              <a:ext uri="{FF2B5EF4-FFF2-40B4-BE49-F238E27FC236}">
                <a16:creationId xmlns:a16="http://schemas.microsoft.com/office/drawing/2014/main" id="{D87C4F29-0DC4-4901-A2FD-7C88889E6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C5F81162-7738-4BC8-BA5D-ADEFD7F2D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62" y="-1044"/>
            <a:ext cx="4824724" cy="6859043"/>
          </a:xfrm>
          <a:prstGeom prst="rect">
            <a:avLst/>
          </a:prstGeom>
          <a:solidFill>
            <a:schemeClr val="bg1"/>
          </a:solidFill>
          <a:ln w="1206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p:cNvSpPr>
            <a:spLocks noGrp="1"/>
          </p:cNvSpPr>
          <p:nvPr>
            <p:ph type="title"/>
          </p:nvPr>
        </p:nvSpPr>
        <p:spPr>
          <a:xfrm>
            <a:off x="1134329" y="552810"/>
            <a:ext cx="4086191" cy="2228759"/>
          </a:xfrm>
        </p:spPr>
        <p:txBody>
          <a:bodyPr anchor="b">
            <a:normAutofit/>
          </a:bodyPr>
          <a:lstStyle/>
          <a:p>
            <a:r>
              <a:rPr lang="en-US" sz="4200"/>
              <a:t>Motivation for this Project</a:t>
            </a:r>
          </a:p>
        </p:txBody>
      </p:sp>
      <p:sp>
        <p:nvSpPr>
          <p:cNvPr id="3" name="Content Placeholder 2"/>
          <p:cNvSpPr>
            <a:spLocks noGrp="1"/>
          </p:cNvSpPr>
          <p:nvPr>
            <p:ph idx="1"/>
          </p:nvPr>
        </p:nvSpPr>
        <p:spPr>
          <a:xfrm>
            <a:off x="1134329" y="2959729"/>
            <a:ext cx="4086191" cy="3341075"/>
          </a:xfrm>
        </p:spPr>
        <p:txBody>
          <a:bodyPr anchor="t">
            <a:normAutofit/>
          </a:bodyPr>
          <a:lstStyle/>
          <a:p>
            <a:pPr>
              <a:lnSpc>
                <a:spcPct val="90000"/>
              </a:lnSpc>
            </a:pPr>
            <a:r>
              <a:rPr lang="en-US" sz="1500" dirty="0"/>
              <a:t>My motivation for this project was because this is my last semester and I graduate, so I was intrigued by what I and the rest of the graduating class could possibly expect, job wise after we graduate. I think some of the importing things to look at would be median salary for the majors, unemployment rates with some of the majors. Everyone expects to have an amazing job that pays well after they graduate because they got a major in a specific field but that may be the case. I think what a lot of people don't realize is that yes, although you can make a lot of money with some majors, but it may not be smart to expect that huge salary immediately.</a:t>
            </a:r>
          </a:p>
          <a:p>
            <a:pPr>
              <a:lnSpc>
                <a:spcPct val="90000"/>
              </a:lnSpc>
            </a:pP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lluminated server room panel">
            <a:extLst>
              <a:ext uri="{FF2B5EF4-FFF2-40B4-BE49-F238E27FC236}">
                <a16:creationId xmlns:a16="http://schemas.microsoft.com/office/drawing/2014/main" id="{0188C76D-7CC5-1431-FF8E-BB070154D05B}"/>
              </a:ext>
            </a:extLst>
          </p:cNvPr>
          <p:cNvPicPr>
            <a:picLocks noChangeAspect="1"/>
          </p:cNvPicPr>
          <p:nvPr/>
        </p:nvPicPr>
        <p:blipFill>
          <a:blip r:embed="rId2"/>
          <a:srcRect l="24410" r="31141" b="-1"/>
          <a:stretch>
            <a:fillRect/>
          </a:stretch>
        </p:blipFill>
        <p:spPr>
          <a:xfrm>
            <a:off x="4577270" y="10"/>
            <a:ext cx="4566728"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7268"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7268"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328512"/>
            <a:ext cx="3583791" cy="1628970"/>
          </a:xfrm>
        </p:spPr>
        <p:txBody>
          <a:bodyPr anchor="ctr">
            <a:normAutofit/>
          </a:bodyPr>
          <a:lstStyle/>
          <a:p>
            <a:r>
              <a:rPr lang="en-US" sz="3500" dirty="0"/>
              <a:t>Data Source</a:t>
            </a:r>
          </a:p>
        </p:txBody>
      </p:sp>
      <p:sp>
        <p:nvSpPr>
          <p:cNvPr id="3" name="Content Placeholder 2"/>
          <p:cNvSpPr>
            <a:spLocks noGrp="1"/>
          </p:cNvSpPr>
          <p:nvPr>
            <p:ph idx="1"/>
          </p:nvPr>
        </p:nvSpPr>
        <p:spPr>
          <a:xfrm>
            <a:off x="571350" y="2884929"/>
            <a:ext cx="3494817" cy="3374137"/>
          </a:xfrm>
        </p:spPr>
        <p:txBody>
          <a:bodyPr anchor="ctr">
            <a:normAutofit lnSpcReduction="10000"/>
          </a:bodyPr>
          <a:lstStyle/>
          <a:p>
            <a:r>
              <a:rPr lang="en-US" sz="1700" dirty="0"/>
              <a:t>Dataset Source: FiveThirtyEight GitHub Repository</a:t>
            </a:r>
          </a:p>
          <a:p>
            <a:r>
              <a:rPr lang="en-US" sz="1700" dirty="0"/>
              <a:t>Dataset Used: recent-grads.csv</a:t>
            </a:r>
          </a:p>
          <a:p>
            <a:r>
              <a:rPr lang="en-US" sz="1700" dirty="0"/>
              <a:t>https://github.com/fivethirtyeight/data/blob/master/college-majors/recent-grads.csv</a:t>
            </a:r>
          </a:p>
          <a:p>
            <a:r>
              <a:rPr lang="en-US" sz="1700" dirty="0"/>
              <a:t>The dataset was loaded directly from GitHub using </a:t>
            </a:r>
            <a:r>
              <a:rPr lang="en-US" sz="1700" dirty="0" err="1"/>
              <a:t>pandas.read_csv</a:t>
            </a:r>
            <a:r>
              <a:rPr lang="en-US" sz="1700" dirty="0"/>
              <a:t>().</a:t>
            </a:r>
          </a:p>
          <a:p>
            <a:r>
              <a:rPr lang="en-US" sz="1700" dirty="0"/>
              <a:t>Data included salary, employment, and major category information.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3212" y="576198"/>
            <a:ext cx="3985902" cy="1615858"/>
          </a:xfrm>
        </p:spPr>
        <p:txBody>
          <a:bodyPr>
            <a:normAutofit fontScale="90000"/>
          </a:bodyPr>
          <a:lstStyle/>
          <a:p>
            <a:r>
              <a:rPr lang="en-US" dirty="0"/>
              <a:t>Relational Database</a:t>
            </a:r>
            <a:br>
              <a:rPr lang="en-US" dirty="0"/>
            </a:br>
            <a:endParaRPr dirty="0"/>
          </a:p>
        </p:txBody>
      </p:sp>
      <p:sp>
        <p:nvSpPr>
          <p:cNvPr id="3" name="Content Placeholder 2"/>
          <p:cNvSpPr>
            <a:spLocks noGrp="1"/>
          </p:cNvSpPr>
          <p:nvPr>
            <p:ph idx="1"/>
          </p:nvPr>
        </p:nvSpPr>
        <p:spPr>
          <a:xfrm>
            <a:off x="363212" y="2433494"/>
            <a:ext cx="3985907" cy="2881456"/>
          </a:xfrm>
        </p:spPr>
        <p:txBody>
          <a:bodyPr anchor="t">
            <a:normAutofit/>
          </a:bodyPr>
          <a:lstStyle/>
          <a:p>
            <a:r>
              <a:rPr lang="en-US" sz="1350" dirty="0"/>
              <a:t>SQLite was used as the relational database.</a:t>
            </a:r>
          </a:p>
          <a:p>
            <a:r>
              <a:rPr lang="en-US" sz="1350" dirty="0"/>
              <a:t>The dataset was separated into normalized tables:</a:t>
            </a:r>
          </a:p>
          <a:p>
            <a:r>
              <a:rPr lang="en-US" sz="1350" dirty="0"/>
              <a:t>- </a:t>
            </a:r>
            <a:r>
              <a:rPr lang="en-US" sz="1350" dirty="0" err="1"/>
              <a:t>majors_table</a:t>
            </a:r>
            <a:endParaRPr lang="en-US" sz="1350" dirty="0"/>
          </a:p>
          <a:p>
            <a:r>
              <a:rPr lang="en-US" sz="1350" dirty="0"/>
              <a:t>- </a:t>
            </a:r>
            <a:r>
              <a:rPr lang="en-US" sz="1350" dirty="0" err="1"/>
              <a:t>earnings_table</a:t>
            </a:r>
            <a:endParaRPr lang="en-US" sz="1350" dirty="0"/>
          </a:p>
          <a:p>
            <a:r>
              <a:rPr lang="en-US" sz="1350" dirty="0"/>
              <a:t>- </a:t>
            </a:r>
            <a:r>
              <a:rPr lang="en-US" sz="1350" dirty="0" err="1"/>
              <a:t>employment_table</a:t>
            </a:r>
            <a:endParaRPr lang="en-US" sz="1350" dirty="0"/>
          </a:p>
        </p:txBody>
      </p:sp>
      <p:sp>
        <p:nvSpPr>
          <p:cNvPr id="10" name="Freeform: Shape 9">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19600" y="0"/>
            <a:ext cx="4724400" cy="4919011"/>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2" name="Freeform: Shape 11">
            <a:extLst>
              <a:ext uri="{FF2B5EF4-FFF2-40B4-BE49-F238E27FC236}">
                <a16:creationId xmlns:a16="http://schemas.microsoft.com/office/drawing/2014/main" id="{52AC6D7F-F068-4E11-BB06-F601D89BB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0561" y="1505"/>
            <a:ext cx="4583439" cy="4762908"/>
          </a:xfrm>
          <a:custGeom>
            <a:avLst/>
            <a:gdLst>
              <a:gd name="connsiteX0" fmla="*/ 1041368 w 5441859"/>
              <a:gd name="connsiteY0" fmla="*/ 0 h 5654940"/>
              <a:gd name="connsiteX1" fmla="*/ 5441859 w 5441859"/>
              <a:gd name="connsiteY1" fmla="*/ 0 h 5654940"/>
              <a:gd name="connsiteX2" fmla="*/ 5441859 w 5441859"/>
              <a:gd name="connsiteY2" fmla="*/ 4820612 h 5654940"/>
              <a:gd name="connsiteX3" fmla="*/ 5285166 w 5441859"/>
              <a:gd name="connsiteY3" fmla="*/ 4957981 h 5654940"/>
              <a:gd name="connsiteX4" fmla="*/ 3267719 w 5441859"/>
              <a:gd name="connsiteY4" fmla="*/ 5654940 h 5654940"/>
              <a:gd name="connsiteX5" fmla="*/ 0 w 5441859"/>
              <a:gd name="connsiteY5" fmla="*/ 2387221 h 5654940"/>
              <a:gd name="connsiteX6" fmla="*/ 957093 w 5441859"/>
              <a:gd name="connsiteY6" fmla="*/ 76595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pic>
        <p:nvPicPr>
          <p:cNvPr id="7" name="Graphic 6" descr="Database">
            <a:extLst>
              <a:ext uri="{FF2B5EF4-FFF2-40B4-BE49-F238E27FC236}">
                <a16:creationId xmlns:a16="http://schemas.microsoft.com/office/drawing/2014/main" id="{61CA467C-1A7F-2F06-3807-D8EE73A00D8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62767" y="485518"/>
            <a:ext cx="3197870" cy="3197870"/>
          </a:xfrm>
          <a:prstGeom prst="rect">
            <a:avLst/>
          </a:prstGeom>
        </p:spPr>
      </p:pic>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was the Data cleaned</a:t>
            </a:r>
            <a:endParaRPr dirty="0"/>
          </a:p>
        </p:txBody>
      </p:sp>
      <p:graphicFrame>
        <p:nvGraphicFramePr>
          <p:cNvPr id="5" name="Content Placeholder 2">
            <a:extLst>
              <a:ext uri="{FF2B5EF4-FFF2-40B4-BE49-F238E27FC236}">
                <a16:creationId xmlns:a16="http://schemas.microsoft.com/office/drawing/2014/main" id="{6EE22DAE-0A4F-22C5-FF43-ACB3BB98D17B}"/>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dirty="0"/>
              <a:t>Data Analysis</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dirty="0"/>
              <a:t>Python was used for data analysis and matplotlib was used for visualization.</a:t>
            </a:r>
          </a:p>
          <a:p>
            <a:r>
              <a:rPr lang="en-US" sz="1700" dirty="0"/>
              <a:t>Analysis included:</a:t>
            </a:r>
          </a:p>
          <a:p>
            <a:r>
              <a:rPr lang="en-US" sz="1700" dirty="0"/>
              <a:t>- Highest paying majors</a:t>
            </a:r>
          </a:p>
          <a:p>
            <a:r>
              <a:rPr lang="en-US" sz="1700" dirty="0"/>
              <a:t>- Unemployment rate by major</a:t>
            </a:r>
          </a:p>
          <a:p>
            <a:r>
              <a:rPr lang="en-US" sz="1700" dirty="0"/>
              <a:t>- Distribution of salary between majors</a:t>
            </a:r>
          </a:p>
        </p:txBody>
      </p:sp>
      <p:pic>
        <p:nvPicPr>
          <p:cNvPr id="5" name="Picture 4" descr="Magnifying glass showing decling performance">
            <a:extLst>
              <a:ext uri="{FF2B5EF4-FFF2-40B4-BE49-F238E27FC236}">
                <a16:creationId xmlns:a16="http://schemas.microsoft.com/office/drawing/2014/main" id="{C6D92833-47AB-13E6-B368-8D7D82C688B6}"/>
              </a:ext>
            </a:extLst>
          </p:cNvPr>
          <p:cNvPicPr>
            <a:picLocks noChangeAspect="1"/>
          </p:cNvPicPr>
          <p:nvPr/>
        </p:nvPicPr>
        <p:blipFill>
          <a:blip r:embed="rId2"/>
          <a:srcRect l="21165" r="34285" b="-2"/>
          <a:stretch>
            <a:fillRect/>
          </a:stretch>
        </p:blipFill>
        <p:spPr>
          <a:xfrm>
            <a:off x="4572000" y="1"/>
            <a:ext cx="4577118"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dirty="0"/>
              <a:t>Challenges</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600" dirty="0"/>
              <a:t>A challenge I encountered was understanding how to normalize the dataset into relational tables. At first, the tables returned duplicate-looking information. To help me overcome this I referred to some of my other projects and watched some YouTube videos on how to join the tables. This helped me better understand relational database design.</a:t>
            </a:r>
          </a:p>
          <a:p>
            <a:endParaRPr lang="en-US" sz="1200" dirty="0"/>
          </a:p>
          <a:p>
            <a:endParaRPr lang="en-US" sz="1700" dirty="0"/>
          </a:p>
        </p:txBody>
      </p:sp>
      <p:pic>
        <p:nvPicPr>
          <p:cNvPr id="5" name="Picture 4" descr="Top view of cubes connected with black lines">
            <a:extLst>
              <a:ext uri="{FF2B5EF4-FFF2-40B4-BE49-F238E27FC236}">
                <a16:creationId xmlns:a16="http://schemas.microsoft.com/office/drawing/2014/main" id="{6D27EBDA-B03E-B4EC-3F21-5451E1304AB6}"/>
              </a:ext>
            </a:extLst>
          </p:cNvPr>
          <p:cNvPicPr>
            <a:picLocks noChangeAspect="1"/>
          </p:cNvPicPr>
          <p:nvPr/>
        </p:nvPicPr>
        <p:blipFill>
          <a:blip r:embed="rId2"/>
          <a:srcRect l="29933" r="20011"/>
          <a:stretch>
            <a:fillRect/>
          </a:stretch>
        </p:blipFill>
        <p:spPr>
          <a:xfrm>
            <a:off x="4572000" y="1"/>
            <a:ext cx="4577118"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Conclusions</a:t>
            </a:r>
          </a:p>
        </p:txBody>
      </p:sp>
      <p:graphicFrame>
        <p:nvGraphicFramePr>
          <p:cNvPr id="5" name="Content Placeholder 2">
            <a:extLst>
              <a:ext uri="{FF2B5EF4-FFF2-40B4-BE49-F238E27FC236}">
                <a16:creationId xmlns:a16="http://schemas.microsoft.com/office/drawing/2014/main" id="{5406ADDD-8EBC-FF78-E3E8-4B0851973088}"/>
              </a:ext>
            </a:extLst>
          </p:cNvPr>
          <p:cNvGraphicFramePr>
            <a:graphicFrameLocks noGrp="1"/>
          </p:cNvGraphicFramePr>
          <p:nvPr>
            <p:ph idx="1"/>
            <p:extLst>
              <p:ext uri="{D42A27DB-BD31-4B8C-83A1-F6EECF244321}">
                <p14:modId xmlns:p14="http://schemas.microsoft.com/office/powerpoint/2010/main" val="1250830109"/>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TotalTime>
  <Words>400</Words>
  <Application>Microsoft Office PowerPoint</Application>
  <PresentationFormat>On-screen Show (4:3)</PresentationFormat>
  <Paragraphs>33</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College Majors and Earnings Analysis Slide Deck</vt:lpstr>
      <vt:lpstr>Motivation for this Project</vt:lpstr>
      <vt:lpstr>Data Source</vt:lpstr>
      <vt:lpstr>Relational Database </vt:lpstr>
      <vt:lpstr>How was the Data cleaned</vt:lpstr>
      <vt:lpstr>Data Analysis</vt:lpstr>
      <vt:lpstr>Challenges</vt:lpstr>
      <vt:lpstr>Conclusions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cp:lastModifiedBy>Patrick Diaz</cp:lastModifiedBy>
  <cp:revision>4</cp:revision>
  <dcterms:created xsi:type="dcterms:W3CDTF">2013-01-27T09:14:16Z</dcterms:created>
  <dcterms:modified xsi:type="dcterms:W3CDTF">2026-05-15T22:54:57Z</dcterms:modified>
  <cp:category/>
</cp:coreProperties>
</file>